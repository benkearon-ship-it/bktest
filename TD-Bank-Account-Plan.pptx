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B46C1"/>
                </a:solidFill>
              </a:defRPr>
            </a:pPr>
            <a:r>
              <a:t>Harness + TD Bank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Transforming Software Delivery for North America's Most Convenient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Harness + TD Bank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Transforming Software Delivery for North America's Most Convenient Bank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Prepared by: Harness Strategic Accounts Team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Date: November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Opportunity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**Organization**: TD Bank Group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5th largest bank in North America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26+ million customers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1,100+ branches across North America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Leading digital banking innovator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**Strategic Objective**: Enable TD Bank to accelerate digital transformation through modern software delivery practices while maintaining bank-grade security and compliance.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**Harness Value Proposition**: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10x faster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90% reduction in deployment failures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30% increase in developer productivity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Enterprise-grade security and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TD Bank - Strategic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Digital Banking Leadership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**Current State**: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Investing heavily in digital transformation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Expanding mobile and online banking capabilities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Competing with fintechs and digital-first banks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Regulatory compliance requirements (SOX, PCI-DSS, SOC2)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**Market Pressures**: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Customer expectations for instant digital services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Competition from neobanks (Chime, Current, Varo)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Need for faster feature releases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Regulatory scrutiny on system reliability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**Technology Environment**: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Multi-cloud infrastructure (AWS, Azure, GCP)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Kubernetes and containerized applications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Legacy mainframe systems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Hybrid cloud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Software Delivery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🔴 Deployment Risk &amp; Manual Processes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Releases require extensive manual testing and verification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Weekend and off-hours deployments to minimize customer impact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High change failure rate leading to rollbacks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Manual correlation of logs and metrics across multiple tools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🔴 Compliance &amp; Audit Overhead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Complex change management processes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Manual audit trail compilation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Difficulty demonstrating compliance across environments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Shadow IT and pipeline sprawl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🔴 Developer Velocity Constraints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Teams spending 60%+ time maintaining pipelines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Context switching between multiple tools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Waiting on approvals and manual gates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Inconsistent deployment patterns across teams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🔴 Scale &amp; Complexity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Managing deployments across 100+ microservices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Multi-region, multi-cloud orchestration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Coordinating database schema changes with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Lack of unified visibility across the delivery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The Harness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Purpose-Built for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Unified Software Delivery Platform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Automated deployment pipelines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Built-in canary and blue/green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Instant automated rollbacks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AI-powered deployment analysis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Integration with Dynatrace, Splunk, Datadog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Automated health scoring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Enterprise-grade CI with Test Intelligence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Cache Intelligence for faster builds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Integrated security scanning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Progressive feature rollouts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Kill switches for instant rollback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Targeted feature delivery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Real-time cloud spend visibility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Cost anomaly detection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Intelligent resource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Key Capabilities for TD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1. Multi-Environment, Multi-Cloud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**Challenge**: Complex orchestration across AWS, Azure, legacy systems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**Solution**: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Single pipeline managing multi-cloud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Unified templates for Kubernetes, VMs, serverless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Database migration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Environment-specific configuration management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**Impact**: 70% reduction in pipeline maintenance effort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Financial Services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Banking Industry Success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Citibank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10x faster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Reduced deployment time from 4 hours to 20 minutes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75% reduction in failed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Supporting 1,000+ developers globally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Capital One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Accelerated cloud migration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Standardized deployment practices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Enhanced security posture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Improved compliance reporting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Nationwide Building Society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95% reduction in deployment failures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60% faster time to market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Automated rollback capabilities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Multi-cloud deployment orchestration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Standard Chartered Bank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Unified delivery platform across 60+ markets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Regulatory compliance automation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Developer productivity gains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Cost optimization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ROI Analysis for TD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Projected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Deployment Efficiency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Current: 50 deployments/week with 15% failure rate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With Harness: 500 deployments/week with &lt;2% failure rate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Impact: **10x deployment frequency, 90% fewer failures**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Developer Productivity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Current: 30 hours/week per team on pipeline maintenance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With Harness: 5 hours/week on pipeline maintenance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Impact: **83% reduction in toil = $2.5M annually** (100 developers)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Incident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Current: 40 production incidents/quarter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With Harness: 5 production incidents/quarter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Impact: **$1.8M saved annually** in incident costs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Time to Market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Current: 6 weeks average feature delivery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With Harness: 1-2 weeks average feature delivery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Impact: **Competitive advantage, faster revenue realization**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Total Annual Value: $5M - $8M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Phased Approach (6-Month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Phase 1: Foundation (Weeks 1-4)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Platform setup and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Pilot team selection (2-3 teams)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Initial pipeline migration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Success metrics baseline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Phase 2: Expansion (Weeks 5-12)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Expand to 10-15 teams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Template library development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Continuous Verification enablement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Integrate with existing tools (Dynatrace, Splunk, JIRA)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Phase 3: Scale (Weeks 13-20)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Organization-wide rollout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Advanced features (canary, blue/green)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Policy-as-code implementation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Developer self-service enablement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Phase 4: Optimization (Weeks 21-24)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Performance tuning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Cost optimization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Advanced analytics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Center of Excellence establishment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Integration with TD Bank's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CI/CD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Jenkins migration path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GitHub Actions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Octopus Deploy compatibility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Existing tool preservation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Cloud &amp; Infrastructure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AWS EKS/ECS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Azure AKS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Google Cloud Platform support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On-premises Kubernetes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Observability Stack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Dynatrace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Splunk log analysis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Datadog metrics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Custom monitoring tools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Security &amp; Compliance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HashiCorp Vault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CyberArk secrets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Aqua/Twistlock security scanning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SonarQube code quality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ITSM &amp; Ticketing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ServiceNow change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JIRA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PagerDuty incident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Bank-Grade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Security Features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SOC2 Type II certified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GDPR compliant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PCI-DSS ready architecture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ISO 27001 certified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Access Control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SSO integration (Okta, Azure AD)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Attribute-based access control (ABAC)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Audit logging for all actions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Secrets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Native secrets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Integration with enterprise vaults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Encryption at rest and in transit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Secret rotation policies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Policy Enforcement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Open Policy Agent (OPA)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Automated compliance checks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Deployment guardrails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Governance frameworks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Why Harness vs.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Pricing &amp;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Enterprise License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Recommended Package: Enterprise Plus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**Services Included**: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Continuous Delivery (unlimited pipelines)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Continuous Verification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Feature Flags (100M evaluations/month)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Cloud Cost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24/7 support with dedicated TAM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Professional services (120 hours)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**Investment**: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Year 1: $450K (includes implementation)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Year 2+: $350K annual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**ROI Timeline**: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Payback period: 6-8 months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3-year ROI: 450%+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**Comparison to Build vs. Buy**: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Build: $2M+ (12 engineers × 12 months)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Maintain: $800K/year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**Savings: $1.5M+ Year 1, $450K+ annually**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Measuring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Deployment Metrics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Deployment frequency: Target 10x increase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Lead time for changes: Target 75%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Change failure rate: Target &lt;5%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Mean time to recovery (MTTR): Target 80% reduction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Business Metrics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Developer productivity: Target 30% increase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Time to market: Target 50%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Infrastructure costs: Target 15%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Incident costs: Target 75% reduction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Team Metrics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Developer satisfaction (NPS): Target 40+ point increase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Pipeline maintenance time: Target 70%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Team velocity: Target 2x improvement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Onboarding time: Target 50% reduction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Compliance Metrics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Audit preparation time: Target 80%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Policy violations: Target 95% reduction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Failed compliance checks: Target &lt;1%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De-Risking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Technical Risks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**Risk**: Integration complexity with existing tools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**Mitigation**: Proven integrations, dedicated solutions architect, phased approach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Organizational Risks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**Risk**: Change management and adoption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**Mitigation**: Champions program, training, gradual rollout, executive sponsorship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Compliance Risks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**Risk**: Meeting regulatory requirements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**Mitigation**: Built-in compliance features, audit trails, policy enforcement, banking references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Vendor Risks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**Risk**: Vendor lock-in or platform limitations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**Mitigation**: API-first architecture, data portability, GitOps support, open standards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Immediate Actions (Next 2 Weeks)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Executive alignment on strategic value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Identify pilot teams and use cases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Schedule technical deep-dive sessions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Review security and compliance requirements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Short Term (Next 30 Days)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Proof of Concept (POC) with 2-3 pipelines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Architecture design workshop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Success criteria definition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Budget approval process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Medium Term (60-90 Days)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Contract negotiation and signing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Implementation kickoff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Platform setup and configuration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Pilot team onboarding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</a:defRPr>
            </a:pPr>
            <a:r>
              <a:t>**Meeting Request**: Executive Business Review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**Attendees**: CTO, VP Engineering, Platform Engineering Lead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**Agenda**: Strategic alignment, ROI review, Q&amp;A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**Duration**: 60 minutes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**Goal**: Decision on POC/Pilot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Team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Harness Team for TD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Account Team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**Account Executive**: Strategic partnership, executive alignment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**Solutions Architect**: Technical design, integration planning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**Customer Success Manager**: Onboarding, adoption, value realization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**Technical Account Manager**: Ongoing support, optimization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Implementation Team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Professional Services Consultant (120 hours included)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Training specialists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Platform engineers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Security &amp; compliance experts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Support Model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24/7 enterprise support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&lt;15 minute response time (P1 issues)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Dedicated Slack channel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Quarterly business reviews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Access to product engineering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Resources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Additional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Case Studies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Citibank: 10x Deployment Velocity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Nationwide: 95% Fewer Failures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Capital One: Cloud Migration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Technical Documentation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Harness CD Documentation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Security &amp; Compliance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Integration Catalog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Industry Recognition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Gartner Magic Quadrant Leader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Forrester Wave Strong Performer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G2 Leader in CD category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InfoWorld Technology of the Year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Contact Information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**Primary Contact**: [Account Executive Name]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**Email**: [ae-email]@harness.io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**Technical Contact**: [Solutions Architect]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**Email**: [sa-email]@harness.io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Appendix -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Continuous Delivery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Deployment Strategies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Canary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Blue/green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Rolling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Custom deployment strategies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Pipeline Features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Visual pipeline builder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Pipeline-as-code (YAML)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Input sets and overlays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Conditional execution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Barriers and synchronization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Deployment freeze windows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GitOps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Argo CD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Flux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Native GitOps support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ApplicationSets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Infrastructure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Terraform integration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CloudFormation support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Helm chart deployments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Kustomize support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Appendix - Integration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5E48E8"/>
                </a:solidFill>
              </a:defRPr>
            </a:pPr>
            <a:r>
              <a:t>TD Bank Technology Stack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Source Control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GitHub Enterprise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Bitbucket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Azure Repos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AWS CodeCommit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Container Orchestration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AWS EKS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Azure AKS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Google GKE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OpenShift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Rancher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Artifact Repositories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Artifactory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Nexus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Docker Hub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ECR, ACR, GCR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APM &amp; Monitoring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Dynatrace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Splunk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Datadog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New Relic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Prometheus/Grafana</a:t>
            </a:r>
          </a:p>
          <a:p>
            <a:pPr>
              <a:spcAft>
                <a:spcPts val="600"/>
              </a:spcAft>
              <a:defRPr sz="1800" b="1">
                <a:solidFill>
                  <a:srgbClr val="6B46C1"/>
                </a:solidFill>
              </a:defRPr>
            </a:pPr>
            <a:r>
              <a:t>Service Management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ServiceNow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JIRA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PagerDuty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✅ Slack/Teams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